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71" r:id="rId6"/>
    <p:sldId id="262" r:id="rId7"/>
    <p:sldId id="272" r:id="rId8"/>
    <p:sldId id="270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8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43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961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3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53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81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39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2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92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82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45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70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C1E8B-759F-491B-B4A5-88686B2B713E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A300F-276C-46A8-94A3-52A6CB4E44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4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Frame 1 (1)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767" y="798183"/>
            <a:ext cx="8800465" cy="11374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ru-RU" sz="4400" b="1" dirty="0" smtClean="0"/>
              <a:t>Проект разработки интернет-магазина </a:t>
            </a:r>
            <a:r>
              <a:rPr lang="ru-RU" sz="4400" b="1" dirty="0"/>
              <a:t>комиксов</a:t>
            </a:r>
            <a:endParaRPr lang="ru-RU" sz="4400" dirty="0"/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ru-RU" dirty="0" smtClean="0"/>
              <a:t>проект подготовлен</a:t>
            </a:r>
          </a:p>
          <a:p>
            <a:r>
              <a:rPr lang="ru-RU" dirty="0" smtClean="0"/>
              <a:t>Нестеровым Саввой Александровичем,</a:t>
            </a:r>
          </a:p>
          <a:p>
            <a:r>
              <a:rPr lang="ru-RU" dirty="0" err="1" smtClean="0"/>
              <a:t>Логвиновым</a:t>
            </a:r>
            <a:r>
              <a:rPr lang="ru-RU" dirty="0" smtClean="0"/>
              <a:t> Юрием Алексеевичем</a:t>
            </a:r>
          </a:p>
        </p:txBody>
      </p:sp>
    </p:spTree>
    <p:extLst>
      <p:ext uri="{BB962C8B-B14F-4D97-AF65-F5344CB8AC3E}">
        <p14:creationId xmlns:p14="http://schemas.microsoft.com/office/powerpoint/2010/main" val="225081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553" y="2324357"/>
            <a:ext cx="3748576" cy="69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572" y="3386291"/>
            <a:ext cx="3169557" cy="106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749300" y="471881"/>
            <a:ext cx="4851400" cy="975632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Полноценный </a:t>
            </a:r>
            <a:r>
              <a:rPr lang="en-US" b="1" dirty="0" smtClean="0"/>
              <a:t>Frontend + Backend</a:t>
            </a:r>
            <a:r>
              <a:rPr lang="ru-RU" b="1" dirty="0" smtClean="0"/>
              <a:t> (решение 1)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13995" y="1611558"/>
            <a:ext cx="6096000" cy="41960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fkGroteskNeue"/>
              </a:rPr>
              <a:t>Плюсы: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Полная архитектурная свобода (домен-ориентированный подход)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fkGroteskNeue"/>
              </a:rPr>
              <a:t>Масштабируемость </a:t>
            </a:r>
            <a:r>
              <a:rPr lang="ru-RU" dirty="0">
                <a:latin typeface="fkGroteskNeue"/>
              </a:rPr>
              <a:t>без ограничений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Контроль над всеми аспектами данных и логики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fkGroteskNeue"/>
              </a:rPr>
              <a:t>Минусы</a:t>
            </a:r>
            <a:r>
              <a:rPr lang="ru-RU" b="1" dirty="0">
                <a:latin typeface="fkGroteskNeue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Значительные временные затраты на разработку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Требует опытной команды для обоих стеков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Высокие начальные инвестиции в инфраструктуру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Необходим </a:t>
            </a:r>
            <a:r>
              <a:rPr lang="ru-RU" dirty="0" err="1">
                <a:latin typeface="fkGroteskNeue"/>
              </a:rPr>
              <a:t>DevOps</a:t>
            </a:r>
            <a:r>
              <a:rPr lang="ru-RU" dirty="0">
                <a:latin typeface="fkGroteskNeue"/>
              </a:rPr>
              <a:t> для поддержки</a:t>
            </a:r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04901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05" y="2699215"/>
            <a:ext cx="4648200" cy="105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8151585" y="979881"/>
            <a:ext cx="3735615" cy="975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WordPress </a:t>
            </a:r>
            <a:r>
              <a:rPr lang="ru-RU" b="1" dirty="0" smtClean="0"/>
              <a:t>(решение 2)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719824" y="1638583"/>
            <a:ext cx="616737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b="1" dirty="0">
                <a:latin typeface="fkGroteskNeue"/>
              </a:rPr>
              <a:t>Плюсы:</a:t>
            </a: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fkGroteskNeue"/>
              </a:rPr>
              <a:t>Дешевле (вписываемся в 1.2 млн </a:t>
            </a:r>
            <a:r>
              <a:rPr lang="ru-RU" dirty="0" err="1" smtClean="0">
                <a:latin typeface="fkGroteskNeue"/>
              </a:rPr>
              <a:t>руб</a:t>
            </a:r>
            <a:r>
              <a:rPr lang="ru-RU" dirty="0" smtClean="0">
                <a:latin typeface="fkGroteskNeue"/>
              </a:rPr>
              <a:t>)</a:t>
            </a:r>
            <a:endParaRPr lang="ru-RU" dirty="0">
              <a:latin typeface="fkGroteskNeue"/>
            </a:endParaRP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Меньше кода для написания</a:t>
            </a: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Встроенная админ-панель</a:t>
            </a: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CMS-шаблоны для типовых задач</a:t>
            </a:r>
          </a:p>
          <a:p>
            <a:pPr algn="r">
              <a:lnSpc>
                <a:spcPct val="150000"/>
              </a:lnSpc>
            </a:pPr>
            <a:r>
              <a:rPr lang="ru-RU" b="1" dirty="0" smtClean="0">
                <a:latin typeface="fkGroteskNeue"/>
              </a:rPr>
              <a:t>Минусы</a:t>
            </a:r>
            <a:r>
              <a:rPr lang="ru-RU" b="1" dirty="0">
                <a:latin typeface="fkGroteskNeue"/>
              </a:rPr>
              <a:t>:</a:t>
            </a: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Ограничена типовыми функциями</a:t>
            </a: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Сложно расширять для специфичных требований</a:t>
            </a: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Производительность может страдать</a:t>
            </a:r>
          </a:p>
          <a:p>
            <a:pPr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fkGroteskNeue"/>
              </a:rPr>
              <a:t>Зависимость от CMS-экосистемы</a:t>
            </a:r>
            <a:endParaRPr lang="ru-RU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42643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15" y="1690688"/>
            <a:ext cx="3603851" cy="356763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4338" y="241236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fkGroteskNeue"/>
              </a:rPr>
              <a:t>Смысловые: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dirty="0">
                <a:latin typeface="fkGroteskNeue"/>
              </a:rPr>
              <a:t>Выход компании за пределы московского рынка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dirty="0">
                <a:latin typeface="fkGroteskNeue"/>
              </a:rPr>
              <a:t>Известность бренда в сети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dirty="0">
                <a:latin typeface="fkGroteskNeue"/>
              </a:rPr>
              <a:t>Следование трендам автоматизации</a:t>
            </a:r>
          </a:p>
          <a:p>
            <a:pPr>
              <a:lnSpc>
                <a:spcPct val="150000"/>
              </a:lnSpc>
            </a:pPr>
            <a:r>
              <a:rPr lang="ru-RU" b="1" i="0" dirty="0" smtClean="0">
                <a:effectLst/>
                <a:latin typeface="fkGroteskNeue"/>
              </a:rPr>
              <a:t>Финансовые:</a:t>
            </a:r>
          </a:p>
          <a:p>
            <a:pPr>
              <a:lnSpc>
                <a:spcPct val="150000"/>
              </a:lnSpc>
            </a:pPr>
            <a:r>
              <a:rPr lang="ru-RU" dirty="0" smtClean="0">
                <a:latin typeface="fkGroteskNeue"/>
              </a:rPr>
              <a:t>- Прибыль </a:t>
            </a:r>
            <a:r>
              <a:rPr lang="en-US" dirty="0" smtClean="0">
                <a:latin typeface="fkGroteskNeue"/>
              </a:rPr>
              <a:t>n </a:t>
            </a:r>
            <a:r>
              <a:rPr lang="ru-RU" dirty="0" smtClean="0">
                <a:latin typeface="fkGroteskNeue"/>
              </a:rPr>
              <a:t>рублей в концу первого года работы сайта</a:t>
            </a:r>
          </a:p>
        </p:txBody>
      </p:sp>
      <p:sp>
        <p:nvSpPr>
          <p:cNvPr id="18" name="Объект 2"/>
          <p:cNvSpPr txBox="1">
            <a:spLocks/>
          </p:cNvSpPr>
          <p:nvPr/>
        </p:nvSpPr>
        <p:spPr>
          <a:xfrm>
            <a:off x="654338" y="1690688"/>
            <a:ext cx="3735615" cy="975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 smtClean="0"/>
              <a:t>Цели проекта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5189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3136862" y="453491"/>
            <a:ext cx="6190018" cy="975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 smtClean="0"/>
              <a:t>Показатели эффективности проекта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812476" y="2424987"/>
            <a:ext cx="481894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fkGroteskNeue"/>
              </a:rPr>
              <a:t>Инвестиционные вложения: 1.2 млн руб.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fkGroteskNeue"/>
              </a:rPr>
              <a:t>Выручка за 3 года: 3.5 млн руб.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NPV </a:t>
            </a:r>
            <a:r>
              <a:rPr lang="ru-RU" dirty="0">
                <a:latin typeface="fkGroteskNeue"/>
              </a:rPr>
              <a:t>за 3 года: 1.3 млн руб.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>
                <a:latin typeface="fkGroteskNeue"/>
              </a:rPr>
              <a:t>Рентабельность: 1,12.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DPP: 24</a:t>
            </a:r>
            <a:r>
              <a:rPr lang="ru-RU" dirty="0">
                <a:latin typeface="fkGroteskNeue"/>
              </a:rPr>
              <a:t> месяца</a:t>
            </a:r>
            <a:r>
              <a:rPr lang="ru-RU" dirty="0" smtClean="0">
                <a:latin typeface="fkGroteskNeue"/>
              </a:rPr>
              <a:t>.</a:t>
            </a:r>
            <a:endParaRPr lang="ru-RU" dirty="0">
              <a:latin typeface="fkGroteskNeue"/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303" y="1828800"/>
            <a:ext cx="3794188" cy="379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91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493155"/>
            <a:ext cx="3848100" cy="4351338"/>
          </a:xfrm>
        </p:spPr>
        <p:txBody>
          <a:bodyPr>
            <a:normAutofit/>
          </a:bodyPr>
          <a:lstStyle/>
          <a:p>
            <a:pPr lvl="1"/>
            <a:r>
              <a:rPr lang="ru-RU" b="1" dirty="0"/>
              <a:t>Этап 1: Анализ и планирование </a:t>
            </a:r>
            <a:r>
              <a:rPr lang="ru-RU" dirty="0"/>
              <a:t>(45 дней) </a:t>
            </a:r>
            <a:endParaRPr lang="en-US" dirty="0" smtClean="0"/>
          </a:p>
          <a:p>
            <a:pPr lvl="1"/>
            <a:r>
              <a:rPr lang="ru-RU" b="1" dirty="0" smtClean="0"/>
              <a:t>Этап </a:t>
            </a:r>
            <a:r>
              <a:rPr lang="ru-RU" b="1" dirty="0"/>
              <a:t>2: Проектирование </a:t>
            </a:r>
            <a:r>
              <a:rPr lang="ru-RU" dirty="0"/>
              <a:t>(45 дней) </a:t>
            </a:r>
            <a:endParaRPr lang="en-US" dirty="0" smtClean="0"/>
          </a:p>
          <a:p>
            <a:pPr lvl="1"/>
            <a:r>
              <a:rPr lang="ru-RU" b="1" dirty="0" smtClean="0"/>
              <a:t>Этап </a:t>
            </a:r>
            <a:r>
              <a:rPr lang="ru-RU" b="1" dirty="0"/>
              <a:t>3: Дизайн-макет </a:t>
            </a:r>
            <a:r>
              <a:rPr lang="ru-RU" dirty="0"/>
              <a:t>(45 дней</a:t>
            </a:r>
            <a:r>
              <a:rPr lang="ru-RU" dirty="0" smtClean="0"/>
              <a:t>)</a:t>
            </a:r>
            <a:endParaRPr lang="ru-RU" sz="1800" dirty="0"/>
          </a:p>
          <a:p>
            <a:pPr lvl="1"/>
            <a:r>
              <a:rPr lang="ru-RU" b="1" dirty="0"/>
              <a:t>Этап 4: Разработка </a:t>
            </a:r>
            <a:r>
              <a:rPr lang="ru-RU" dirty="0"/>
              <a:t>(180 дней</a:t>
            </a:r>
            <a:r>
              <a:rPr lang="ru-RU" dirty="0" smtClean="0"/>
              <a:t>)</a:t>
            </a:r>
            <a:endParaRPr lang="ru-RU" sz="1800" dirty="0"/>
          </a:p>
          <a:p>
            <a:pPr lvl="1"/>
            <a:r>
              <a:rPr lang="ru-RU" b="1" dirty="0"/>
              <a:t>Этап 5: Тестирование </a:t>
            </a:r>
            <a:r>
              <a:rPr lang="ru-RU" dirty="0"/>
              <a:t>и отладка (45 дней</a:t>
            </a:r>
            <a:r>
              <a:rPr lang="ru-RU" dirty="0" smtClean="0"/>
              <a:t>)</a:t>
            </a:r>
            <a:endParaRPr lang="ru-RU" sz="1800" dirty="0"/>
          </a:p>
          <a:p>
            <a:endParaRPr lang="ru-RU" dirty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451138" y="896935"/>
            <a:ext cx="3061319" cy="59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Этапы внедрения</a:t>
            </a:r>
            <a:endParaRPr lang="ru-RU" b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595" y="896935"/>
            <a:ext cx="7845363" cy="483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8152025" y="1473111"/>
            <a:ext cx="3555904" cy="975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Методология: </a:t>
            </a:r>
            <a:r>
              <a:rPr lang="en-US" b="1" dirty="0" smtClean="0"/>
              <a:t>Kanban</a:t>
            </a:r>
            <a:endParaRPr lang="ru-RU" b="1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7839456" y="2192575"/>
            <a:ext cx="386847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/>
              <a:t>На </a:t>
            </a:r>
            <a:r>
              <a:rPr lang="ru-RU" b="1" dirty="0"/>
              <a:t>практике это означает:</a:t>
            </a:r>
          </a:p>
          <a:p>
            <a:pPr algn="r"/>
            <a:endParaRPr lang="ru-RU" dirty="0"/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ru-RU" dirty="0"/>
              <a:t>Ограничение работ в процессе (WIP </a:t>
            </a:r>
            <a:r>
              <a:rPr lang="ru-RU" dirty="0" err="1"/>
              <a:t>limit</a:t>
            </a:r>
            <a:r>
              <a:rPr lang="ru-RU" dirty="0"/>
              <a:t>) для повышения качества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ru-RU" dirty="0"/>
              <a:t>Непрерывный поток задач без строгих спринтов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ru-RU" dirty="0"/>
              <a:t>Быстрая обратная связь и адаптация к изменениям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ru-RU" dirty="0"/>
              <a:t>Измеримость через метрики (</a:t>
            </a:r>
            <a:r>
              <a:rPr lang="ru-RU" dirty="0" err="1"/>
              <a:t>lead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, </a:t>
            </a:r>
            <a:r>
              <a:rPr lang="ru-RU" dirty="0" err="1"/>
              <a:t>cycle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)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31" y="1960927"/>
            <a:ext cx="6447699" cy="296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36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474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>
                <a:latin typeface="+mn-lt"/>
              </a:rPr>
              <a:t>План управления стоимостью</a:t>
            </a:r>
            <a:endParaRPr lang="ru-RU" sz="2800" b="1" dirty="0">
              <a:latin typeface="+mn-lt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7075"/>
              </p:ext>
            </p:extLst>
          </p:nvPr>
        </p:nvGraphicFramePr>
        <p:xfrm>
          <a:off x="650540" y="1696966"/>
          <a:ext cx="10890920" cy="4003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1365">
                  <a:extLst>
                    <a:ext uri="{9D8B030D-6E8A-4147-A177-3AD203B41FA5}">
                      <a16:colId xmlns:a16="http://schemas.microsoft.com/office/drawing/2014/main" val="3437228136"/>
                    </a:ext>
                  </a:extLst>
                </a:gridCol>
                <a:gridCol w="1361365">
                  <a:extLst>
                    <a:ext uri="{9D8B030D-6E8A-4147-A177-3AD203B41FA5}">
                      <a16:colId xmlns:a16="http://schemas.microsoft.com/office/drawing/2014/main" val="1538088880"/>
                    </a:ext>
                  </a:extLst>
                </a:gridCol>
                <a:gridCol w="1361365">
                  <a:extLst>
                    <a:ext uri="{9D8B030D-6E8A-4147-A177-3AD203B41FA5}">
                      <a16:colId xmlns:a16="http://schemas.microsoft.com/office/drawing/2014/main" val="529309589"/>
                    </a:ext>
                  </a:extLst>
                </a:gridCol>
                <a:gridCol w="1361365">
                  <a:extLst>
                    <a:ext uri="{9D8B030D-6E8A-4147-A177-3AD203B41FA5}">
                      <a16:colId xmlns:a16="http://schemas.microsoft.com/office/drawing/2014/main" val="2149607497"/>
                    </a:ext>
                  </a:extLst>
                </a:gridCol>
                <a:gridCol w="1361365">
                  <a:extLst>
                    <a:ext uri="{9D8B030D-6E8A-4147-A177-3AD203B41FA5}">
                      <a16:colId xmlns:a16="http://schemas.microsoft.com/office/drawing/2014/main" val="1494664176"/>
                    </a:ext>
                  </a:extLst>
                </a:gridCol>
                <a:gridCol w="1361365">
                  <a:extLst>
                    <a:ext uri="{9D8B030D-6E8A-4147-A177-3AD203B41FA5}">
                      <a16:colId xmlns:a16="http://schemas.microsoft.com/office/drawing/2014/main" val="2243935306"/>
                    </a:ext>
                  </a:extLst>
                </a:gridCol>
                <a:gridCol w="1361365">
                  <a:extLst>
                    <a:ext uri="{9D8B030D-6E8A-4147-A177-3AD203B41FA5}">
                      <a16:colId xmlns:a16="http://schemas.microsoft.com/office/drawing/2014/main" val="3015139421"/>
                    </a:ext>
                  </a:extLst>
                </a:gridCol>
                <a:gridCol w="1361365">
                  <a:extLst>
                    <a:ext uri="{9D8B030D-6E8A-4147-A177-3AD203B41FA5}">
                      <a16:colId xmlns:a16="http://schemas.microsoft.com/office/drawing/2014/main" val="3387429348"/>
                    </a:ext>
                  </a:extLst>
                </a:gridCol>
              </a:tblGrid>
              <a:tr h="780633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Статья расходов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Анализ и</a:t>
                      </a:r>
                      <a:br>
                        <a:rPr lang="ru-RU" sz="1500">
                          <a:effectLst/>
                        </a:rPr>
                      </a:br>
                      <a:r>
                        <a:rPr lang="ru-RU" sz="1500">
                          <a:effectLst/>
                        </a:rPr>
                        <a:t>планирование</a:t>
                      </a:r>
                      <a:br>
                        <a:rPr lang="ru-RU" sz="1500">
                          <a:effectLst/>
                        </a:rPr>
                      </a:br>
                      <a:r>
                        <a:rPr lang="ru-RU" sz="1500">
                          <a:effectLst/>
                        </a:rPr>
                        <a:t>(1,5 мес), руб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Проектирование</a:t>
                      </a:r>
                      <a:br>
                        <a:rPr lang="ru-RU" sz="1500">
                          <a:effectLst/>
                        </a:rPr>
                      </a:br>
                      <a:r>
                        <a:rPr lang="ru-RU" sz="1500">
                          <a:effectLst/>
                        </a:rPr>
                        <a:t>(1,5 мес), руб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Дизайн-макет</a:t>
                      </a:r>
                      <a:br>
                        <a:rPr lang="ru-RU" sz="1500">
                          <a:effectLst/>
                        </a:rPr>
                      </a:br>
                      <a:r>
                        <a:rPr lang="ru-RU" sz="1500">
                          <a:effectLst/>
                        </a:rPr>
                        <a:t>(1,5 мес), руб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Разработка</a:t>
                      </a:r>
                      <a:br>
                        <a:rPr lang="ru-RU" sz="1500" dirty="0">
                          <a:effectLst/>
                        </a:rPr>
                      </a:br>
                      <a:r>
                        <a:rPr lang="ru-RU" sz="1500" dirty="0">
                          <a:effectLst/>
                        </a:rPr>
                        <a:t>(6 </a:t>
                      </a:r>
                      <a:r>
                        <a:rPr lang="ru-RU" sz="1500" dirty="0" err="1">
                          <a:effectLst/>
                        </a:rPr>
                        <a:t>мес</a:t>
                      </a:r>
                      <a:r>
                        <a:rPr lang="ru-RU" sz="1500" dirty="0">
                          <a:effectLst/>
                        </a:rPr>
                        <a:t>), </a:t>
                      </a:r>
                      <a:r>
                        <a:rPr lang="ru-RU" sz="1500" dirty="0" err="1">
                          <a:effectLst/>
                        </a:rPr>
                        <a:t>руб</a:t>
                      </a:r>
                      <a:endParaRPr lang="ru-RU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Тестирование</a:t>
                      </a:r>
                      <a:br>
                        <a:rPr lang="ru-RU" sz="1500">
                          <a:effectLst/>
                        </a:rPr>
                      </a:br>
                      <a:r>
                        <a:rPr lang="ru-RU" sz="1500">
                          <a:effectLst/>
                        </a:rPr>
                        <a:t>и отладка</a:t>
                      </a:r>
                      <a:br>
                        <a:rPr lang="ru-RU" sz="1500">
                          <a:effectLst/>
                        </a:rPr>
                      </a:br>
                      <a:r>
                        <a:rPr lang="ru-RU" sz="1500">
                          <a:effectLst/>
                        </a:rPr>
                        <a:t>(1,5 мес), руб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ИТОГО, </a:t>
                      </a:r>
                      <a:br>
                        <a:rPr lang="ru-RU" sz="1500">
                          <a:effectLst/>
                        </a:rPr>
                      </a:br>
                      <a:r>
                        <a:rPr lang="ru-RU" sz="1500">
                          <a:effectLst/>
                        </a:rPr>
                        <a:t>руб.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%</a:t>
                      </a:r>
                      <a:endParaRPr lang="ru-RU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extLst>
                  <a:ext uri="{0D108BD9-81ED-4DB2-BD59-A6C34878D82A}">
                    <a16:rowId xmlns:a16="http://schemas.microsoft.com/office/drawing/2014/main" val="1988779217"/>
                  </a:ext>
                </a:extLst>
              </a:tr>
              <a:tr h="54043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Заработная плата + налог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50850</a:t>
                      </a:r>
                      <a:endParaRPr lang="ru-RU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118650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118650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339000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135600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762750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63,56%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extLst>
                  <a:ext uri="{0D108BD9-81ED-4DB2-BD59-A6C34878D82A}">
                    <a16:rowId xmlns:a16="http://schemas.microsoft.com/office/drawing/2014/main" val="2556694051"/>
                  </a:ext>
                </a:extLst>
              </a:tr>
              <a:tr h="54043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Виртуальный офис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6 000,00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6 000,00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24 000,00</a:t>
                      </a:r>
                      <a:endParaRPr lang="ru-RU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6 000,00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48 000,00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4,00%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extLst>
                  <a:ext uri="{0D108BD9-81ED-4DB2-BD59-A6C34878D82A}">
                    <a16:rowId xmlns:a16="http://schemas.microsoft.com/office/drawing/2014/main" val="4285687044"/>
                  </a:ext>
                </a:extLst>
              </a:tr>
              <a:tr h="512745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Хостинг и домен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75 000,00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75 000,00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6,25%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extLst>
                  <a:ext uri="{0D108BD9-81ED-4DB2-BD59-A6C34878D82A}">
                    <a16:rowId xmlns:a16="http://schemas.microsoft.com/office/drawing/2014/main" val="65642591"/>
                  </a:ext>
                </a:extLst>
              </a:tr>
              <a:tr h="540439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Реклама после разработки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150 000,00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12,50%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extLst>
                  <a:ext uri="{0D108BD9-81ED-4DB2-BD59-A6C34878D82A}">
                    <a16:rowId xmlns:a16="http://schemas.microsoft.com/office/drawing/2014/main" val="3500473674"/>
                  </a:ext>
                </a:extLst>
              </a:tr>
              <a:tr h="307928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резерв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</a:pPr>
                      <a:endParaRPr lang="ru-RU" sz="16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164 250,00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13,69%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extLst>
                  <a:ext uri="{0D108BD9-81ED-4DB2-BD59-A6C34878D82A}">
                    <a16:rowId xmlns:a16="http://schemas.microsoft.com/office/drawing/2014/main" val="314594988"/>
                  </a:ext>
                </a:extLst>
              </a:tr>
              <a:tr h="780633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ИТОГО за разработку в базисный год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56 850,00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118 650,00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124 650,00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363 000,00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>
                          <a:effectLst/>
                        </a:rPr>
                        <a:t>216 600,00</a:t>
                      </a:r>
                      <a:endParaRPr lang="ru-RU" sz="1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1 200 000,00</a:t>
                      </a:r>
                      <a:endParaRPr lang="ru-RU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100,00%</a:t>
                      </a:r>
                      <a:endParaRPr lang="ru-RU" sz="1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729" marR="42729" marT="28486" marB="28486" anchor="b"/>
                </a:tc>
                <a:extLst>
                  <a:ext uri="{0D108BD9-81ED-4DB2-BD59-A6C34878D82A}">
                    <a16:rowId xmlns:a16="http://schemas.microsoft.com/office/drawing/2014/main" val="1425758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00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52" y="1590765"/>
            <a:ext cx="1103667" cy="110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375" y="3035478"/>
            <a:ext cx="1176819" cy="117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83" y="4515511"/>
            <a:ext cx="1409801" cy="14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423" y="1387346"/>
            <a:ext cx="1510502" cy="151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795" y="3032543"/>
            <a:ext cx="1179755" cy="117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Picture backgroun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124" y="4515510"/>
            <a:ext cx="1409801" cy="14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sz="2800" b="1" dirty="0" smtClean="0">
                <a:solidFill>
                  <a:srgbClr val="3E8241"/>
                </a:solidFill>
                <a:latin typeface="+mn-lt"/>
              </a:rPr>
              <a:t>Критические</a:t>
            </a:r>
            <a:r>
              <a:rPr lang="ru-RU" b="1" dirty="0" smtClean="0">
                <a:solidFill>
                  <a:srgbClr val="3E8241"/>
                </a:solidFill>
              </a:rPr>
              <a:t> </a:t>
            </a:r>
            <a:r>
              <a:rPr lang="ru-RU" sz="2800" b="1" dirty="0" smtClean="0">
                <a:solidFill>
                  <a:srgbClr val="3E8241"/>
                </a:solidFill>
                <a:latin typeface="+mn-lt"/>
              </a:rPr>
              <a:t>факторы успеха</a:t>
            </a:r>
            <a:endParaRPr lang="ru-RU" sz="2800" b="1" dirty="0">
              <a:solidFill>
                <a:srgbClr val="3E8241"/>
              </a:solidFill>
              <a:latin typeface="+mn-lt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44473" y="1680932"/>
            <a:ext cx="30809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Ясные цели и согласованность с заказчиком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344473" y="3299254"/>
            <a:ext cx="20690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Соблюдение сроков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344473" y="4897244"/>
            <a:ext cx="22641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Соблюдение бюджета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7120128" y="1835889"/>
            <a:ext cx="2542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/>
              <a:t>Качество разработки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7120127" y="3299254"/>
            <a:ext cx="25424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/>
              <a:t>Эффективный маркетинг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120126" y="4897243"/>
            <a:ext cx="25424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/>
              <a:t>Скоординированная работа команды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08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343</Words>
  <Application>Microsoft Office PowerPoint</Application>
  <PresentationFormat>Широкоэкранный</PresentationFormat>
  <Paragraphs>100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fkGroteskNeue</vt:lpstr>
      <vt:lpstr>Georgia</vt:lpstr>
      <vt:lpstr>Times New Roman</vt:lpstr>
      <vt:lpstr>Тема Office</vt:lpstr>
      <vt:lpstr>Проект разработки интернет-магазина комиксов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План управления стоимостью</vt:lpstr>
      <vt:lpstr>Критические факторы успеха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</dc:creator>
  <cp:lastModifiedBy>Yuriy</cp:lastModifiedBy>
  <cp:revision>78</cp:revision>
  <dcterms:created xsi:type="dcterms:W3CDTF">2025-11-18T07:19:10Z</dcterms:created>
  <dcterms:modified xsi:type="dcterms:W3CDTF">2025-11-23T01:50:35Z</dcterms:modified>
</cp:coreProperties>
</file>