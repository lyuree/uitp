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2" r:id="rId8"/>
    <p:sldId id="267" r:id="rId9"/>
    <p:sldId id="268" r:id="rId10"/>
    <p:sldId id="269" r:id="rId11"/>
    <p:sldId id="270" r:id="rId12"/>
    <p:sldId id="261" r:id="rId13"/>
    <p:sldId id="263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E82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75" d="100"/>
          <a:sy n="75" d="100"/>
        </p:scale>
        <p:origin x="540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438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0961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3359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753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1816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739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0621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925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8828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456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705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5C1E8B-759F-491B-B4A5-88686B2B713E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A300F-276C-46A8-94A3-52A6CB4E44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0481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Frame 1 (1)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367" y="316045"/>
            <a:ext cx="8800465" cy="11374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50817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Picture backgroun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433" y="2324357"/>
            <a:ext cx="3748576" cy="69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ure backgrou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0452" y="3386291"/>
            <a:ext cx="3169557" cy="1064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Объект 2"/>
          <p:cNvSpPr>
            <a:spLocks noGrp="1"/>
          </p:cNvSpPr>
          <p:nvPr>
            <p:ph idx="1"/>
          </p:nvPr>
        </p:nvSpPr>
        <p:spPr>
          <a:xfrm>
            <a:off x="749300" y="471881"/>
            <a:ext cx="4851400" cy="975632"/>
          </a:xfrm>
        </p:spPr>
        <p:txBody>
          <a:bodyPr/>
          <a:lstStyle/>
          <a:p>
            <a:pPr marL="0" indent="0">
              <a:buNone/>
            </a:pPr>
            <a:r>
              <a:rPr lang="ru-RU" b="1" dirty="0" smtClean="0"/>
              <a:t>Полноценный </a:t>
            </a:r>
            <a:r>
              <a:rPr lang="en-US" b="1" dirty="0" smtClean="0"/>
              <a:t>Frontend + Backend</a:t>
            </a:r>
            <a:r>
              <a:rPr lang="ru-RU" b="1" dirty="0" smtClean="0"/>
              <a:t> (решение 1)</a:t>
            </a:r>
            <a:endParaRPr lang="ru-RU" b="1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813995" y="1611558"/>
            <a:ext cx="6096000" cy="419602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fkGroteskNeue"/>
              </a:rPr>
              <a:t>Плюсы: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Полная архитектурная свобода (домен-ориентированный подход)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>
                <a:latin typeface="fkGroteskNeue"/>
              </a:rPr>
              <a:t>Масштабируемость </a:t>
            </a:r>
            <a:r>
              <a:rPr lang="ru-RU" dirty="0">
                <a:latin typeface="fkGroteskNeue"/>
              </a:rPr>
              <a:t>без ограничений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Контроль над всеми аспектами данных и логики</a:t>
            </a:r>
          </a:p>
          <a:p>
            <a:pPr>
              <a:lnSpc>
                <a:spcPct val="150000"/>
              </a:lnSpc>
            </a:pPr>
            <a:r>
              <a:rPr lang="ru-RU" b="1" dirty="0" smtClean="0">
                <a:latin typeface="fkGroteskNeue"/>
              </a:rPr>
              <a:t>Минусы</a:t>
            </a:r>
            <a:r>
              <a:rPr lang="ru-RU" b="1" dirty="0">
                <a:latin typeface="fkGroteskNeue"/>
              </a:rPr>
              <a:t>: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Значительные временные затраты на разработку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Требует опытной команды для обоих стеков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Высокие начальные инвестиции в инфраструктуру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Необходим </a:t>
            </a:r>
            <a:r>
              <a:rPr lang="ru-RU" dirty="0" err="1">
                <a:latin typeface="fkGroteskNeue"/>
              </a:rPr>
              <a:t>DevOps</a:t>
            </a:r>
            <a:r>
              <a:rPr lang="ru-RU" dirty="0">
                <a:latin typeface="fkGroteskNeue"/>
              </a:rPr>
              <a:t> для поддержки</a:t>
            </a:r>
            <a:endParaRPr lang="ru-RU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049016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icture backgroun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505" y="2699215"/>
            <a:ext cx="4648200" cy="1058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Объект 2"/>
          <p:cNvSpPr txBox="1">
            <a:spLocks/>
          </p:cNvSpPr>
          <p:nvPr/>
        </p:nvSpPr>
        <p:spPr>
          <a:xfrm>
            <a:off x="8151585" y="979881"/>
            <a:ext cx="3735615" cy="975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 smtClean="0"/>
              <a:t>WordPress </a:t>
            </a:r>
            <a:r>
              <a:rPr lang="ru-RU" b="1" dirty="0" smtClean="0"/>
              <a:t>(решение 2)</a:t>
            </a:r>
            <a:endParaRPr lang="ru-RU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5719824" y="1638583"/>
            <a:ext cx="6167376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b="1" dirty="0">
                <a:latin typeface="fkGroteskNeue"/>
              </a:rPr>
              <a:t>Плюсы:</a:t>
            </a: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>
                <a:latin typeface="fkGroteskNeue"/>
              </a:rPr>
              <a:t>Дешевле (вписываемся в 1.2 млн </a:t>
            </a:r>
            <a:r>
              <a:rPr lang="ru-RU" dirty="0" err="1" smtClean="0">
                <a:latin typeface="fkGroteskNeue"/>
              </a:rPr>
              <a:t>руб</a:t>
            </a:r>
            <a:r>
              <a:rPr lang="ru-RU" dirty="0" smtClean="0">
                <a:latin typeface="fkGroteskNeue"/>
              </a:rPr>
              <a:t>)</a:t>
            </a:r>
            <a:endParaRPr lang="ru-RU" dirty="0">
              <a:latin typeface="fkGroteskNeue"/>
            </a:endParaRP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Меньше кода для написания</a:t>
            </a: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Встроенная админ-панель</a:t>
            </a: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CMS-шаблоны для типовых задач</a:t>
            </a:r>
          </a:p>
          <a:p>
            <a:pPr algn="r">
              <a:lnSpc>
                <a:spcPct val="150000"/>
              </a:lnSpc>
            </a:pPr>
            <a:r>
              <a:rPr lang="ru-RU" b="1" dirty="0" smtClean="0">
                <a:latin typeface="fkGroteskNeue"/>
              </a:rPr>
              <a:t>Минусы</a:t>
            </a:r>
            <a:r>
              <a:rPr lang="ru-RU" b="1" dirty="0">
                <a:latin typeface="fkGroteskNeue"/>
              </a:rPr>
              <a:t>:</a:t>
            </a: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Ограничена типовыми функциями</a:t>
            </a: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Сложно расширять для специфичных требований</a:t>
            </a: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Производительность может страдать</a:t>
            </a: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fkGroteskNeue"/>
              </a:rPr>
              <a:t>Зависимость от CMS-экосистемы</a:t>
            </a:r>
            <a:endParaRPr lang="ru-RU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4264393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915" y="1690688"/>
            <a:ext cx="3603851" cy="3567631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654338" y="2412360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fkGroteskNeue"/>
              </a:rPr>
              <a:t>Смысловые: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ru-RU" dirty="0">
                <a:latin typeface="fkGroteskNeue"/>
              </a:rPr>
              <a:t>Выход компании за пределы московского рынка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ru-RU" dirty="0">
                <a:latin typeface="fkGroteskNeue"/>
              </a:rPr>
              <a:t>Известность бренда в сети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ru-RU" dirty="0">
                <a:latin typeface="fkGroteskNeue"/>
              </a:rPr>
              <a:t>Следование трендам автоматизации</a:t>
            </a:r>
          </a:p>
          <a:p>
            <a:pPr>
              <a:lnSpc>
                <a:spcPct val="150000"/>
              </a:lnSpc>
            </a:pPr>
            <a:r>
              <a:rPr lang="ru-RU" b="1" i="0" dirty="0" smtClean="0">
                <a:effectLst/>
                <a:latin typeface="fkGroteskNeue"/>
              </a:rPr>
              <a:t>Финансовые:</a:t>
            </a:r>
          </a:p>
          <a:p>
            <a:pPr>
              <a:lnSpc>
                <a:spcPct val="150000"/>
              </a:lnSpc>
            </a:pPr>
            <a:r>
              <a:rPr lang="ru-RU" dirty="0" smtClean="0">
                <a:latin typeface="fkGroteskNeue"/>
              </a:rPr>
              <a:t>- Прибыль </a:t>
            </a:r>
            <a:r>
              <a:rPr lang="en-US" dirty="0" smtClean="0">
                <a:latin typeface="fkGroteskNeue"/>
              </a:rPr>
              <a:t>n </a:t>
            </a:r>
            <a:r>
              <a:rPr lang="ru-RU" dirty="0" smtClean="0">
                <a:latin typeface="fkGroteskNeue"/>
              </a:rPr>
              <a:t>рублей в концу первого года работы сайта</a:t>
            </a:r>
          </a:p>
        </p:txBody>
      </p:sp>
      <p:sp>
        <p:nvSpPr>
          <p:cNvPr id="18" name="Объект 2"/>
          <p:cNvSpPr txBox="1">
            <a:spLocks/>
          </p:cNvSpPr>
          <p:nvPr/>
        </p:nvSpPr>
        <p:spPr>
          <a:xfrm>
            <a:off x="654338" y="1690688"/>
            <a:ext cx="3735615" cy="975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b="1" dirty="0" smtClean="0"/>
              <a:t>Цели проекта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4051894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2"/>
          <p:cNvSpPr txBox="1">
            <a:spLocks/>
          </p:cNvSpPr>
          <p:nvPr/>
        </p:nvSpPr>
        <p:spPr>
          <a:xfrm>
            <a:off x="3368510" y="587603"/>
            <a:ext cx="5064291" cy="975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/>
              <a:t>Ожидаемые доходы по </a:t>
            </a:r>
            <a:r>
              <a:rPr lang="ru-RU" b="1" dirty="0" smtClean="0"/>
              <a:t>годам, срок окупаемости</a:t>
            </a:r>
            <a:endParaRPr lang="ru-RU" b="1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5166300" y="1839771"/>
            <a:ext cx="1147365" cy="4565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 smtClean="0">
                <a:latin typeface="fkGroteskNeue"/>
              </a:rPr>
              <a:t>Таблица</a:t>
            </a:r>
            <a:endParaRPr lang="ru-RU" dirty="0"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761358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2"/>
          <p:cNvSpPr txBox="1">
            <a:spLocks/>
          </p:cNvSpPr>
          <p:nvPr/>
        </p:nvSpPr>
        <p:spPr>
          <a:xfrm>
            <a:off x="6782912" y="2358346"/>
            <a:ext cx="5064291" cy="975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 smtClean="0"/>
              <a:t>Методология: </a:t>
            </a:r>
            <a:r>
              <a:rPr lang="en-US" b="1" dirty="0" smtClean="0"/>
              <a:t>Waterfall + Agile</a:t>
            </a:r>
            <a:endParaRPr lang="ru-RU" b="1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996" y="1625826"/>
            <a:ext cx="4810125" cy="3838575"/>
          </a:xfrm>
          <a:prstGeom prst="rect">
            <a:avLst/>
          </a:prstGeom>
        </p:spPr>
      </p:pic>
      <p:sp>
        <p:nvSpPr>
          <p:cNvPr id="41" name="Прямоугольник 40"/>
          <p:cNvSpPr/>
          <p:nvPr/>
        </p:nvSpPr>
        <p:spPr>
          <a:xfrm>
            <a:off x="5624121" y="3058207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/>
            <a:r>
              <a:rPr lang="ru-RU" b="1" dirty="0" smtClean="0"/>
              <a:t>На </a:t>
            </a:r>
            <a:r>
              <a:rPr lang="ru-RU" b="1" dirty="0"/>
              <a:t>практике это означает:</a:t>
            </a:r>
          </a:p>
          <a:p>
            <a:pPr algn="r"/>
            <a:endParaRPr lang="ru-RU" dirty="0"/>
          </a:p>
          <a:p>
            <a:pPr algn="r"/>
            <a:r>
              <a:rPr lang="ru-RU" dirty="0"/>
              <a:t>Жесткое планирование фаз </a:t>
            </a:r>
            <a:r>
              <a:rPr lang="ru-RU" dirty="0" smtClean="0"/>
              <a:t>+ гибкая </a:t>
            </a:r>
            <a:r>
              <a:rPr lang="ru-RU" dirty="0"/>
              <a:t>разработка </a:t>
            </a:r>
            <a:r>
              <a:rPr lang="ru-RU" dirty="0" smtClean="0"/>
              <a:t>внутри </a:t>
            </a:r>
            <a:r>
              <a:rPr lang="ru-RU" dirty="0"/>
              <a:t>фазы </a:t>
            </a:r>
            <a:r>
              <a:rPr lang="ru-RU" dirty="0" smtClean="0"/>
              <a:t>(спринты, регулярная обратная связь).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92122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1493155"/>
            <a:ext cx="3848100" cy="4351338"/>
          </a:xfrm>
        </p:spPr>
        <p:txBody>
          <a:bodyPr>
            <a:normAutofit/>
          </a:bodyPr>
          <a:lstStyle/>
          <a:p>
            <a:pPr lvl="1"/>
            <a:r>
              <a:rPr lang="ru-RU" b="1" dirty="0"/>
              <a:t>Этап 1: Анализ и планирование </a:t>
            </a:r>
            <a:r>
              <a:rPr lang="ru-RU" dirty="0"/>
              <a:t>(45 дней) </a:t>
            </a:r>
            <a:endParaRPr lang="en-US" dirty="0" smtClean="0"/>
          </a:p>
          <a:p>
            <a:pPr lvl="1"/>
            <a:r>
              <a:rPr lang="ru-RU" b="1" dirty="0" smtClean="0"/>
              <a:t>Этап </a:t>
            </a:r>
            <a:r>
              <a:rPr lang="ru-RU" b="1" dirty="0"/>
              <a:t>2: Проектирование </a:t>
            </a:r>
            <a:r>
              <a:rPr lang="ru-RU" dirty="0"/>
              <a:t>(45 дней) </a:t>
            </a:r>
            <a:endParaRPr lang="en-US" dirty="0" smtClean="0"/>
          </a:p>
          <a:p>
            <a:pPr lvl="1"/>
            <a:r>
              <a:rPr lang="ru-RU" b="1" dirty="0" smtClean="0"/>
              <a:t>Этап </a:t>
            </a:r>
            <a:r>
              <a:rPr lang="ru-RU" b="1" dirty="0"/>
              <a:t>3: Дизайн-макет </a:t>
            </a:r>
            <a:r>
              <a:rPr lang="ru-RU" dirty="0"/>
              <a:t>(45 дней</a:t>
            </a:r>
            <a:r>
              <a:rPr lang="ru-RU" dirty="0" smtClean="0"/>
              <a:t>)</a:t>
            </a:r>
            <a:endParaRPr lang="ru-RU" sz="1800" dirty="0"/>
          </a:p>
          <a:p>
            <a:pPr lvl="1"/>
            <a:r>
              <a:rPr lang="ru-RU" b="1" dirty="0"/>
              <a:t>Этап 4: Разработка </a:t>
            </a:r>
            <a:r>
              <a:rPr lang="ru-RU" dirty="0"/>
              <a:t>(180 дней</a:t>
            </a:r>
            <a:r>
              <a:rPr lang="ru-RU" dirty="0" smtClean="0"/>
              <a:t>)</a:t>
            </a:r>
            <a:endParaRPr lang="ru-RU" sz="1800" dirty="0"/>
          </a:p>
          <a:p>
            <a:pPr lvl="1"/>
            <a:r>
              <a:rPr lang="ru-RU" b="1" dirty="0"/>
              <a:t>Этап 5: Тестирование </a:t>
            </a:r>
            <a:r>
              <a:rPr lang="ru-RU" dirty="0"/>
              <a:t>и отладка (45 дней</a:t>
            </a:r>
            <a:r>
              <a:rPr lang="ru-RU" dirty="0" smtClean="0"/>
              <a:t>)</a:t>
            </a:r>
            <a:endParaRPr lang="ru-RU" sz="1800" dirty="0"/>
          </a:p>
          <a:p>
            <a:endParaRPr lang="ru-RU" dirty="0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4043727" y="898977"/>
            <a:ext cx="7667907" cy="5110163"/>
          </a:xfrm>
          <a:prstGeom prst="rect">
            <a:avLst/>
          </a:prstGeom>
        </p:spPr>
      </p:pic>
      <p:sp>
        <p:nvSpPr>
          <p:cNvPr id="7" name="Объект 2"/>
          <p:cNvSpPr txBox="1">
            <a:spLocks/>
          </p:cNvSpPr>
          <p:nvPr/>
        </p:nvSpPr>
        <p:spPr>
          <a:xfrm>
            <a:off x="451138" y="896935"/>
            <a:ext cx="3061319" cy="5962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 smtClean="0"/>
              <a:t>Этапы внедрения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91395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1161144"/>
            <a:ext cx="10467975" cy="17240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662" y="2885169"/>
            <a:ext cx="8448675" cy="181927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2" y="4354287"/>
            <a:ext cx="10658475" cy="1914525"/>
          </a:xfrm>
          <a:prstGeom prst="rect">
            <a:avLst/>
          </a:prstGeom>
        </p:spPr>
      </p:pic>
      <p:sp>
        <p:nvSpPr>
          <p:cNvPr id="9" name="Заголовок 1"/>
          <p:cNvSpPr>
            <a:spLocks noGrp="1"/>
          </p:cNvSpPr>
          <p:nvPr>
            <p:ph type="title"/>
          </p:nvPr>
        </p:nvSpPr>
        <p:spPr>
          <a:xfrm>
            <a:off x="838200" y="34812"/>
            <a:ext cx="10515600" cy="1325563"/>
          </a:xfrm>
        </p:spPr>
        <p:txBody>
          <a:bodyPr/>
          <a:lstStyle/>
          <a:p>
            <a:pPr algn="ctr"/>
            <a:r>
              <a:rPr lang="en-US" b="1" dirty="0" smtClean="0"/>
              <a:t>WBS</a:t>
            </a:r>
            <a:r>
              <a:rPr lang="ru-RU" b="1" dirty="0" smtClean="0"/>
              <a:t> (</a:t>
            </a:r>
            <a:r>
              <a:rPr lang="uk-UA" b="1" dirty="0" err="1" smtClean="0"/>
              <a:t>иерархия</a:t>
            </a:r>
            <a:r>
              <a:rPr lang="uk-UA" b="1" dirty="0" smtClean="0"/>
              <a:t> задач)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267136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510" y="3254375"/>
            <a:ext cx="11312979" cy="1589286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1244600"/>
            <a:ext cx="10572750" cy="2009775"/>
          </a:xfrm>
          <a:prstGeom prst="rect">
            <a:avLst/>
          </a:prstGeom>
        </p:spPr>
      </p:pic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838200" y="34812"/>
            <a:ext cx="10515600" cy="1325563"/>
          </a:xfrm>
        </p:spPr>
        <p:txBody>
          <a:bodyPr/>
          <a:lstStyle/>
          <a:p>
            <a:pPr algn="ctr"/>
            <a:r>
              <a:rPr lang="en-US" b="1" dirty="0" smtClean="0"/>
              <a:t>WBS</a:t>
            </a:r>
            <a:r>
              <a:rPr lang="ru-RU" b="1" dirty="0" smtClean="0"/>
              <a:t> (</a:t>
            </a:r>
            <a:r>
              <a:rPr lang="uk-UA" b="1" dirty="0" err="1" smtClean="0"/>
              <a:t>иерархия</a:t>
            </a:r>
            <a:r>
              <a:rPr lang="uk-UA" b="1" dirty="0" smtClean="0"/>
              <a:t> задач)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936408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uk-UA" b="1" dirty="0" err="1" smtClean="0"/>
              <a:t>Диаграмма</a:t>
            </a:r>
            <a:r>
              <a:rPr lang="uk-UA" b="1" dirty="0" smtClean="0"/>
              <a:t> </a:t>
            </a:r>
            <a:r>
              <a:rPr lang="uk-UA" b="1" dirty="0" err="1" smtClean="0"/>
              <a:t>Ганта</a:t>
            </a:r>
            <a:endParaRPr lang="ru-RU" b="1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2262046" y="1213983"/>
            <a:ext cx="7667907" cy="5110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059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47410"/>
            <a:ext cx="10515600" cy="1325563"/>
          </a:xfrm>
        </p:spPr>
        <p:txBody>
          <a:bodyPr/>
          <a:lstStyle/>
          <a:p>
            <a:pPr algn="ctr"/>
            <a:r>
              <a:rPr lang="ru-RU" b="1" dirty="0" smtClean="0"/>
              <a:t>План управления стоимостью</a:t>
            </a:r>
            <a:endParaRPr lang="ru-RU" b="1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659557"/>
              </p:ext>
            </p:extLst>
          </p:nvPr>
        </p:nvGraphicFramePr>
        <p:xfrm>
          <a:off x="2194719" y="1472973"/>
          <a:ext cx="7802561" cy="435542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483529">
                  <a:extLst>
                    <a:ext uri="{9D8B030D-6E8A-4147-A177-3AD203B41FA5}">
                      <a16:colId xmlns:a16="http://schemas.microsoft.com/office/drawing/2014/main" val="3388877247"/>
                    </a:ext>
                  </a:extLst>
                </a:gridCol>
                <a:gridCol w="1159516">
                  <a:extLst>
                    <a:ext uri="{9D8B030D-6E8A-4147-A177-3AD203B41FA5}">
                      <a16:colId xmlns:a16="http://schemas.microsoft.com/office/drawing/2014/main" val="1268619829"/>
                    </a:ext>
                  </a:extLst>
                </a:gridCol>
                <a:gridCol w="1159516">
                  <a:extLst>
                    <a:ext uri="{9D8B030D-6E8A-4147-A177-3AD203B41FA5}">
                      <a16:colId xmlns:a16="http://schemas.microsoft.com/office/drawing/2014/main" val="4012022895"/>
                    </a:ext>
                  </a:extLst>
                </a:gridCol>
              </a:tblGrid>
              <a:tr h="6815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Статья расходов</a:t>
                      </a:r>
                      <a:endParaRPr lang="ru-RU" sz="2000" dirty="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ИТОГО, </a:t>
                      </a:r>
                      <a:br>
                        <a:rPr lang="ru-RU" sz="1700">
                          <a:effectLst/>
                        </a:rPr>
                      </a:br>
                      <a:r>
                        <a:rPr lang="ru-RU" sz="1700">
                          <a:effectLst/>
                        </a:rPr>
                        <a:t>руб.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%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 anchor="b"/>
                </a:tc>
                <a:extLst>
                  <a:ext uri="{0D108BD9-81ED-4DB2-BD59-A6C34878D82A}">
                    <a16:rowId xmlns:a16="http://schemas.microsoft.com/office/drawing/2014/main" val="1235829792"/>
                  </a:ext>
                </a:extLst>
              </a:tr>
              <a:tr h="36404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Социальные налоги (13%)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87 750,00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ru-RU">
                          <a:effectLst/>
                        </a:rPr>
                        <a:t>7,31%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1694855989"/>
                  </a:ext>
                </a:extLst>
              </a:tr>
              <a:tr h="375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Маркетолог (аутсорсинг)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180 000,00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ru-RU">
                          <a:effectLst/>
                        </a:rPr>
                        <a:t>15,00%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2281325972"/>
                  </a:ext>
                </a:extLst>
              </a:tr>
              <a:tr h="375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CMS-разработка (WordPress)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375 000,00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ru-RU">
                          <a:effectLst/>
                        </a:rPr>
                        <a:t>31,25%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2701293182"/>
                  </a:ext>
                </a:extLst>
              </a:tr>
              <a:tr h="375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Дизайн и прототипирование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120 000,00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ru-RU">
                          <a:effectLst/>
                        </a:rPr>
                        <a:t>10,00%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2536330469"/>
                  </a:ext>
                </a:extLst>
              </a:tr>
              <a:tr h="375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Виртуальный офис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48 000,00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ru-RU">
                          <a:effectLst/>
                        </a:rPr>
                        <a:t>4,00%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4229517089"/>
                  </a:ext>
                </a:extLst>
              </a:tr>
              <a:tr h="375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Хостинг и домен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75 000,00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ru-RU">
                          <a:effectLst/>
                        </a:rPr>
                        <a:t>6,25%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3450208029"/>
                  </a:ext>
                </a:extLst>
              </a:tr>
              <a:tr h="375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Реклама после разработки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150 000,00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ru-RU">
                          <a:effectLst/>
                        </a:rPr>
                        <a:t>12,50%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4173622405"/>
                  </a:ext>
                </a:extLst>
              </a:tr>
              <a:tr h="375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>
                          <a:effectLst/>
                        </a:rPr>
                        <a:t>Резерв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smtClean="0">
                          <a:effectLst/>
                        </a:rPr>
                        <a:t>164250</a:t>
                      </a:r>
                      <a:endParaRPr lang="ru-RU" sz="2000" dirty="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ru-RU" dirty="0">
                          <a:effectLst/>
                        </a:rPr>
                        <a:t>13,69%</a:t>
                      </a:r>
                    </a:p>
                  </a:txBody>
                  <a:tcPr marL="28575" marR="28575" marT="19050" marB="19050" anchor="b"/>
                </a:tc>
                <a:extLst>
                  <a:ext uri="{0D108BD9-81ED-4DB2-BD59-A6C34878D82A}">
                    <a16:rowId xmlns:a16="http://schemas.microsoft.com/office/drawing/2014/main" val="2096524177"/>
                  </a:ext>
                </a:extLst>
              </a:tr>
              <a:tr h="6815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700">
                          <a:effectLst/>
                        </a:rPr>
                        <a:t>ИТОГО инвестиции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700">
                          <a:effectLst/>
                        </a:rPr>
                        <a:t>1 035 750,00</a:t>
                      </a:r>
                      <a:endParaRPr lang="ru-RU" sz="2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100%</a:t>
                      </a:r>
                      <a:endParaRPr lang="ru-RU" sz="2000" dirty="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1483" marR="51483" marT="34323" marB="34323" anchor="b"/>
                </a:tc>
                <a:extLst>
                  <a:ext uri="{0D108BD9-81ED-4DB2-BD59-A6C34878D82A}">
                    <a16:rowId xmlns:a16="http://schemas.microsoft.com/office/drawing/2014/main" val="29994977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7001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309885"/>
              </p:ext>
            </p:extLst>
          </p:nvPr>
        </p:nvGraphicFramePr>
        <p:xfrm>
          <a:off x="1048656" y="568328"/>
          <a:ext cx="10305144" cy="56138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10759">
                  <a:extLst>
                    <a:ext uri="{9D8B030D-6E8A-4147-A177-3AD203B41FA5}">
                      <a16:colId xmlns:a16="http://schemas.microsoft.com/office/drawing/2014/main" val="889181778"/>
                    </a:ext>
                  </a:extLst>
                </a:gridCol>
                <a:gridCol w="1584871">
                  <a:extLst>
                    <a:ext uri="{9D8B030D-6E8A-4147-A177-3AD203B41FA5}">
                      <a16:colId xmlns:a16="http://schemas.microsoft.com/office/drawing/2014/main" val="164206408"/>
                    </a:ext>
                  </a:extLst>
                </a:gridCol>
                <a:gridCol w="1803633">
                  <a:extLst>
                    <a:ext uri="{9D8B030D-6E8A-4147-A177-3AD203B41FA5}">
                      <a16:colId xmlns:a16="http://schemas.microsoft.com/office/drawing/2014/main" val="3828535323"/>
                    </a:ext>
                  </a:extLst>
                </a:gridCol>
                <a:gridCol w="993743">
                  <a:extLst>
                    <a:ext uri="{9D8B030D-6E8A-4147-A177-3AD203B41FA5}">
                      <a16:colId xmlns:a16="http://schemas.microsoft.com/office/drawing/2014/main" val="2673765787"/>
                    </a:ext>
                  </a:extLst>
                </a:gridCol>
                <a:gridCol w="1302105">
                  <a:extLst>
                    <a:ext uri="{9D8B030D-6E8A-4147-A177-3AD203B41FA5}">
                      <a16:colId xmlns:a16="http://schemas.microsoft.com/office/drawing/2014/main" val="1341596655"/>
                    </a:ext>
                  </a:extLst>
                </a:gridCol>
                <a:gridCol w="1546471">
                  <a:extLst>
                    <a:ext uri="{9D8B030D-6E8A-4147-A177-3AD203B41FA5}">
                      <a16:colId xmlns:a16="http://schemas.microsoft.com/office/drawing/2014/main" val="1760788947"/>
                    </a:ext>
                  </a:extLst>
                </a:gridCol>
                <a:gridCol w="1063562">
                  <a:extLst>
                    <a:ext uri="{9D8B030D-6E8A-4147-A177-3AD203B41FA5}">
                      <a16:colId xmlns:a16="http://schemas.microsoft.com/office/drawing/2014/main" val="3241805793"/>
                    </a:ext>
                  </a:extLst>
                </a:gridCol>
              </a:tblGrid>
              <a:tr h="109582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</a:rPr>
                        <a:t>Статья</a:t>
                      </a:r>
                      <a:r>
                        <a:rPr lang="en-US" sz="1000" dirty="0">
                          <a:effectLst/>
                        </a:rPr>
                        <a:t> </a:t>
                      </a:r>
                      <a:r>
                        <a:rPr lang="en-US" sz="1000" dirty="0" err="1">
                          <a:effectLst/>
                        </a:rPr>
                        <a:t>расходов</a:t>
                      </a:r>
                      <a:endParaRPr lang="ru-RU" sz="1000" dirty="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Анализ и</a:t>
                      </a:r>
                      <a:br>
                        <a:rPr lang="en-US" sz="1000">
                          <a:effectLst/>
                        </a:rPr>
                      </a:br>
                      <a:r>
                        <a:rPr lang="en-US" sz="1000">
                          <a:effectLst/>
                        </a:rPr>
                        <a:t>планирование</a:t>
                      </a:r>
                      <a:br>
                        <a:rPr lang="en-US" sz="1000">
                          <a:effectLst/>
                        </a:rPr>
                      </a:br>
                      <a:r>
                        <a:rPr lang="en-US" sz="1000">
                          <a:effectLst/>
                        </a:rPr>
                        <a:t>(1,5 мес)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Проектирование</a:t>
                      </a:r>
                      <a:br>
                        <a:rPr lang="en-US" sz="1000">
                          <a:effectLst/>
                        </a:rPr>
                      </a:br>
                      <a:r>
                        <a:rPr lang="en-US" sz="1000">
                          <a:effectLst/>
                        </a:rPr>
                        <a:t>(1,5 мес)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Дизайн-макет</a:t>
                      </a:r>
                      <a:br>
                        <a:rPr lang="en-US" sz="1000">
                          <a:effectLst/>
                        </a:rPr>
                      </a:br>
                      <a:r>
                        <a:rPr lang="en-US" sz="1000">
                          <a:effectLst/>
                        </a:rPr>
                        <a:t>(1,5 мес)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Разработка</a:t>
                      </a:r>
                      <a:br>
                        <a:rPr lang="en-US" sz="1000">
                          <a:effectLst/>
                        </a:rPr>
                      </a:br>
                      <a:r>
                        <a:rPr lang="en-US" sz="1000">
                          <a:effectLst/>
                        </a:rPr>
                        <a:t>(6 мес)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Тестирование</a:t>
                      </a:r>
                      <a:br>
                        <a:rPr lang="en-US" sz="1000">
                          <a:effectLst/>
                        </a:rPr>
                      </a:br>
                      <a:r>
                        <a:rPr lang="en-US" sz="1000">
                          <a:effectLst/>
                        </a:rPr>
                        <a:t>и отладка</a:t>
                      </a:r>
                      <a:br>
                        <a:rPr lang="en-US" sz="1000">
                          <a:effectLst/>
                        </a:rPr>
                      </a:br>
                      <a:r>
                        <a:rPr lang="en-US" sz="1000">
                          <a:effectLst/>
                        </a:rPr>
                        <a:t>(1,5 мес)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ИТОГО</a:t>
                      </a:r>
                      <a:br>
                        <a:rPr lang="en-US" sz="1000">
                          <a:effectLst/>
                        </a:rPr>
                      </a:br>
                      <a:r>
                        <a:rPr lang="en-US" sz="1000">
                          <a:effectLst/>
                        </a:rPr>
                        <a:t>(руб.)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extLst>
                  <a:ext uri="{0D108BD9-81ED-4DB2-BD59-A6C34878D82A}">
                    <a16:rowId xmlns:a16="http://schemas.microsoft.com/office/drawing/2014/main" val="3623923053"/>
                  </a:ext>
                </a:extLst>
              </a:tr>
              <a:tr h="429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Социальные налоги (13%)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5 850</a:t>
                      </a:r>
                      <a:endParaRPr lang="ru-RU" sz="1000" dirty="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13 650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13 650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39 000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15 600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87 750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extLst>
                  <a:ext uri="{0D108BD9-81ED-4DB2-BD59-A6C34878D82A}">
                    <a16:rowId xmlns:a16="http://schemas.microsoft.com/office/drawing/2014/main" val="2201245189"/>
                  </a:ext>
                </a:extLst>
              </a:tr>
              <a:tr h="429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Маркетолог (аутсорсинг)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45 000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45 000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45 000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45 000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180 000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extLst>
                  <a:ext uri="{0D108BD9-81ED-4DB2-BD59-A6C34878D82A}">
                    <a16:rowId xmlns:a16="http://schemas.microsoft.com/office/drawing/2014/main" val="2641345442"/>
                  </a:ext>
                </a:extLst>
              </a:tr>
              <a:tr h="6517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CMS-разработка (WordPress)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300 000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75 000</a:t>
                      </a:r>
                      <a:endParaRPr lang="ru-RU" sz="1000" dirty="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375 000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extLst>
                  <a:ext uri="{0D108BD9-81ED-4DB2-BD59-A6C34878D82A}">
                    <a16:rowId xmlns:a16="http://schemas.microsoft.com/office/drawing/2014/main" val="525605165"/>
                  </a:ext>
                </a:extLst>
              </a:tr>
              <a:tr h="6517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Дизайн и прототипирование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60 000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60 000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120 000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extLst>
                  <a:ext uri="{0D108BD9-81ED-4DB2-BD59-A6C34878D82A}">
                    <a16:rowId xmlns:a16="http://schemas.microsoft.com/office/drawing/2014/main" val="345274431"/>
                  </a:ext>
                </a:extLst>
              </a:tr>
              <a:tr h="429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Виртуальный офис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24 000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48 000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extLst>
                  <a:ext uri="{0D108BD9-81ED-4DB2-BD59-A6C34878D82A}">
                    <a16:rowId xmlns:a16="http://schemas.microsoft.com/office/drawing/2014/main" val="2484803536"/>
                  </a:ext>
                </a:extLst>
              </a:tr>
              <a:tr h="429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Хостинг и домен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75 000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75 000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extLst>
                  <a:ext uri="{0D108BD9-81ED-4DB2-BD59-A6C34878D82A}">
                    <a16:rowId xmlns:a16="http://schemas.microsoft.com/office/drawing/2014/main" val="1497274627"/>
                  </a:ext>
                </a:extLst>
              </a:tr>
              <a:tr h="63605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Реклама после разработки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150 000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150 000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extLst>
                  <a:ext uri="{0D108BD9-81ED-4DB2-BD59-A6C34878D82A}">
                    <a16:rowId xmlns:a16="http://schemas.microsoft.com/office/drawing/2014/main" val="3498424771"/>
                  </a:ext>
                </a:extLst>
              </a:tr>
              <a:tr h="429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Резерв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164 250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extLst>
                  <a:ext uri="{0D108BD9-81ED-4DB2-BD59-A6C34878D82A}">
                    <a16:rowId xmlns:a16="http://schemas.microsoft.com/office/drawing/2014/main" val="1033869280"/>
                  </a:ext>
                </a:extLst>
              </a:tr>
              <a:tr h="429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ИТОГО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56 850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124 650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124 650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363 000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366 600</a:t>
                      </a:r>
                      <a:endParaRPr lang="ru-RU" sz="100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1 035 750</a:t>
                      </a:r>
                      <a:endParaRPr lang="ru-RU" sz="1000" dirty="0">
                        <a:effectLst/>
                        <a:latin typeface="Cambria" panose="02040503050406030204" pitchFamily="18" charset="0"/>
                        <a:ea typeface="MS Mincho"/>
                        <a:cs typeface="Times New Roman" panose="02020603050405020304" pitchFamily="18" charset="0"/>
                      </a:endParaRPr>
                    </a:p>
                  </a:txBody>
                  <a:tcPr marL="59535" marR="59535" marT="0" marB="0"/>
                </a:tc>
                <a:extLst>
                  <a:ext uri="{0D108BD9-81ED-4DB2-BD59-A6C34878D82A}">
                    <a16:rowId xmlns:a16="http://schemas.microsoft.com/office/drawing/2014/main" val="1309612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1039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 descr="Picture backgroun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952" y="1590765"/>
            <a:ext cx="1103667" cy="1103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 descr="Picture backgrou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375" y="3035478"/>
            <a:ext cx="1176819" cy="1176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 descr="Picture backgroun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883" y="4515511"/>
            <a:ext cx="1409801" cy="1409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4" name="Picture 10" descr="Picture background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6423" y="1387346"/>
            <a:ext cx="1510502" cy="151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Picture background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1795" y="3032543"/>
            <a:ext cx="1179755" cy="117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8" name="Picture 14" descr="Picture background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7124" y="4515510"/>
            <a:ext cx="1409801" cy="1409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ru-RU" b="1" dirty="0" smtClean="0">
                <a:solidFill>
                  <a:srgbClr val="3E8241"/>
                </a:solidFill>
              </a:rPr>
              <a:t>Критические факторы успеха</a:t>
            </a:r>
            <a:endParaRPr lang="ru-RU" b="1" dirty="0">
              <a:solidFill>
                <a:srgbClr val="3E8241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2344473" y="1680932"/>
            <a:ext cx="308096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/>
              <a:t>Ясные цели и согласованность с заказчиком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2344473" y="3299254"/>
            <a:ext cx="206903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/>
              <a:t>Соблюдение сроков</a:t>
            </a:r>
            <a:endParaRPr lang="ru-RU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2344473" y="4897244"/>
            <a:ext cx="226410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/>
              <a:t>Соблюдение бюджета</a:t>
            </a:r>
            <a:endParaRPr lang="ru-RU" dirty="0"/>
          </a:p>
        </p:txBody>
      </p:sp>
      <p:sp>
        <p:nvSpPr>
          <p:cNvPr id="16" name="Прямоугольник 15"/>
          <p:cNvSpPr/>
          <p:nvPr/>
        </p:nvSpPr>
        <p:spPr>
          <a:xfrm>
            <a:off x="7120128" y="1835889"/>
            <a:ext cx="25424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ru-RU" b="1" dirty="0" smtClean="0"/>
              <a:t>Качество разработки</a:t>
            </a:r>
            <a:endParaRPr lang="ru-RU" dirty="0"/>
          </a:p>
        </p:txBody>
      </p:sp>
      <p:sp>
        <p:nvSpPr>
          <p:cNvPr id="17" name="Прямоугольник 16"/>
          <p:cNvSpPr/>
          <p:nvPr/>
        </p:nvSpPr>
        <p:spPr>
          <a:xfrm>
            <a:off x="7120127" y="3299254"/>
            <a:ext cx="25424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ru-RU" b="1" dirty="0" smtClean="0"/>
              <a:t>Эффективный маркетинг</a:t>
            </a:r>
            <a:endParaRPr lang="ru-RU" dirty="0"/>
          </a:p>
        </p:txBody>
      </p:sp>
      <p:sp>
        <p:nvSpPr>
          <p:cNvPr id="18" name="Прямоугольник 17"/>
          <p:cNvSpPr/>
          <p:nvPr/>
        </p:nvSpPr>
        <p:spPr>
          <a:xfrm>
            <a:off x="7120126" y="4897243"/>
            <a:ext cx="25424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ru-RU" b="1" dirty="0" smtClean="0"/>
              <a:t>Скоординированная работа команды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560858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1164</TotalTime>
  <Words>416</Words>
  <Application>Microsoft Office PowerPoint</Application>
  <PresentationFormat>Широкоэкранный</PresentationFormat>
  <Paragraphs>151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Cambria</vt:lpstr>
      <vt:lpstr>fkGroteskNeue</vt:lpstr>
      <vt:lpstr>MS Mincho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WBS (иерархия задач)</vt:lpstr>
      <vt:lpstr>WBS (иерархия задач)</vt:lpstr>
      <vt:lpstr>Диаграмма Ганта</vt:lpstr>
      <vt:lpstr>План управления стоимостью</vt:lpstr>
      <vt:lpstr>Презентация PowerPoint</vt:lpstr>
      <vt:lpstr>Критические факторы успеха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Yuriy</dc:creator>
  <cp:lastModifiedBy>Yuriy</cp:lastModifiedBy>
  <cp:revision>57</cp:revision>
  <dcterms:created xsi:type="dcterms:W3CDTF">2025-11-18T07:19:10Z</dcterms:created>
  <dcterms:modified xsi:type="dcterms:W3CDTF">2025-11-20T07:40:25Z</dcterms:modified>
</cp:coreProperties>
</file>